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The project began in 2020 as a four-person bootcamp capstone; this deck presents the 2026 refresh of Rich's fork: same questions, corrected science, modern tooling, and a shareable app. Everything quoted here comes from notebooks or scripts in the repository; the research log has the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Kepler (2009-2018) watched ~150,000 stars in one patch of sky for periodic dips in brightness: transits. Each promising repeating dip is a Kepler Object of Interest. The NASA Exoplanet Archive's cumulative KOI table (9,564 rows) carries a verdict per KOI: CONFIRMED, CANDIDATE, or FALSE POSITIVE. Figure: our own sky map of the KOIs (notebook 01). Column definitions: exoplanetarchive.ipac.caltech.edu/docs/API_kepcandidate_columns.html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three questions the 2020 deck asked. 2020 answers came from the bootcamp work; 2026 answers from the refreshed notebooks (03, 05, 07, 08). Numbers: physics-only macro f1 0.747 ± 0.012 on today's labels; 16 confirmed planets ≤ 2 Earth radii in the conservative Kopparapu zone; out-of-time AUC 0.937.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sources, both tracked in data/raw with provenance: the Kaggle-era snapshot the 2020 team used (9,564 x 50) and a live pull of the archive's cumulative table via TAP on 2026-08-25 (9,564 x 153, SHA-256 recorded). Same KOIs, identical physics columns (koi_depth differs by rounding only); 925 verdicts (9.7%) changed. Notebook 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disposition columns: koi_pdisposition (pipeline, 2 classes) and koi_disposition (archive, 3 classes; the target). The four koi_fpflag_* columns are the pipeline's reasons for calling a false positive; any flag set predicts the pipeline verdict 98% of the time. Between the snapshot and today, the flags were rewritten wherever the verdict changed (koi_fpflag_nt changed on 347 rows, _ss 207, _co 133): the flags are outputs of vetting, not measurements. Figure: notebook 03, 5-fold CV.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2020 dropped the 363 rows with any null after removing the error columns. 2026 keeps all 9,564 rows: missingness tracks the label (most gaps sit in FALSE POSITIVEs), so the model gets 'is this value missing' indicators and a NaN-native gradient boosting. Gain over dropping rows was about 0.007 macro f1 — none — but the catalogue stays complete. Figures: notebook 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2020 ran k-means on the confirmed planets (elbow at 4, 'the data is homogeneous'). 2026 ran scaled k-means on all classes and scored the clusters against the verdicts: adjusted Rand index at or below 0.05 for every k. The clusters follow the heavy-tailed physics (depth, SNR, stellar radius), not the verdict. Notebook 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2020 deck quoted 83 / 90 / 90 / 84 '% f1'. Those were accuracy and weighted f1 on one split; macro f1 (the balanced number) was 0.77 / 0.87 / 0.87 / 0.79, with the flags. On physics only the same models drop to 0.53 / 0.71 / 0.72. The tuned HistGradientBoosting with nested CV on all rows: 0.722 ± 0.006 on snapshot labels, 0.747 ± 0.012 on today's labels. The physics-only ceiling is about 0.72–0.75 in every construction. Table: reports/tables/03_baseline_metrics.csv and 07_models_v2_metrics.csv.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Isotonic calibration on out-of-fold scores lowers log loss 0.534 to 0.512 and Brier 0.315 to 0.297 on today's labels; its argmax lowers macro f1 slightly, so the app shows probabilities and decides labels by an explicit rule (kepler.verdict). Out-of-fold rule metrics: macro f1 0.744; per class CANDIDATE 0.55, CONFIRMED 0.84, FALSE POSITIVE 0.84; P(planet-like) AUC 0.921; at 0.5 precision 0.848 / recall 0.823. Figure: notebook 07 reliability.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Permutation importance on the out-of-fold physics-only model (notebook 07): transit signal-to-noise 0.166, orbital period 0.089, planet radius 0.089, transit duration 0.073 (drop in macro f1 when the column is shuffled). No flags, no koi_score, no koi_pdisposition anywhere in the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 the physics-only model on the 2020 labels only (out-of-fold), score the 2,248 KOIs that were candidates in 2020, and compare with what the archive decided later: 443 confirmed, 148 dismissed, 1,657 still open. Median P(planet-like): 0.946 for the later-confirmed, 0.826 for the still-open, 0.257 for the later-dismissed. AUC 0.937. The flags could not have passed this test: they were rewritten with the verdicts. Notebook 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2020 filtered on orbital period (200-400 d), stellar temperature (5,500-6,500 K), radius, gravity and metallicity: star properties, never the planet's insolation, and 'super-Earth' meant the gas giants pictured on the 2020 slide. 2026 uses the Kopparapu et al. 2014 (ApJL 787, L29) stellar-temperature-dependent insolation limits and the Rogers 2015 (ApJ 801, 41) 1.6 Earth-radius rocky ceiling (2.0 loose). Today's table: 16 confirmed planets ≤ 2 R⊕ in the conservative zone (9 ≤ 1.6), 25 in the optimistic zone, 65 candidates ≤ 2 R⊕ in the conservative zone. The 2020 list of 12 shares none. Caveat: the KOI table's stellar parameters are DR25; Kepler-1649 c (Vanderburg et al. 2020) sits outside and Kepler-1649 b (an exo-Venus, Angelo et al. 2017) inside on those numbers. Notebooks 05 and 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app/app.py runs locally (run_app.cmd), on Streamlit Community Cloud, and inside the visitor's browser via stlite on GitHub Pages: Python compiled to WebAssembly, static files, no server, nothing installed. The trained model ships as plain numbers (trees + calibration maps) evaluated with numpy; a test proves it reproduces scikit-learn's probabilities exactly. Every catalogue probability is out-of-fold. Default KOI: Kepler-452 b, where the model says 50/50 — in line with Mullally et al. 2018 (AJ 155, 210), who argue it 'should be considered a candidate planet'.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takeaways. Each is backed by a notebook and a research-log entry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Tooling: uv-locked Python 3.12, pandas, scikit-learn 1.9, plotly, Streamlit, stlite on GitHub Pages, Obsidian vault in the repo, pytest (41 tests), ruff. The refresh was built as a tag team: Claude in Cowork authored notebooks, code and notes; Claude Code committed, tested and pushed on Rich's machine; Rich set direction and reviewed. 2020 team credited. References verified 2026-08-24/25.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 exoplanets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refresh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 Objects of Interest: honest models, the habitable zone done on insolation, and an app that runs in your browser.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Anderson · August 2026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of the 2020 Columbia Engineering data-analytics bootcamp team project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team: Rich Anderson (ML pipeline), Damien Corr, Priscilla Lin, Tom Greff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0" y="4343400"/>
            <a:ext cx="4663440" cy="1737360"/>
          </a:xfrm>
          <a:prstGeom prst="roundRect">
            <a:avLst>
              <a:gd name="adj" fmla="val 6316"/>
            </a:avLst>
          </a:prstGeom>
          <a:solidFill>
            <a:srgbClr val="23211A"/>
          </a:solidFill>
          <a:ln w="12700">
            <a:solidFill>
              <a:srgbClr val="2321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8040" y="448056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notebooks, research log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github.com/Rander417/KeplerExoplanet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app, in your browser (GitHub Pages)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rander417.github.io/KeplerExoplanet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 in one slide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 exoplanets · 2026 refresh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space telescope (2009–2018) that stared at ~150,000 stars in Cygnus and Lyra and measured their brightness continuously.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transit method: a planet crossing its star dims it slightly and regularly. Earth crossing the Sun would dim it by about 84 parts per million.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Kepler Object of Interest (KOI) is a repeating dip promising enough to track. The archive's cumulative table holds 9,564 of them, ids like K00752.01.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KOI carries the archive's verdict: CONFIRMED (a real planet), CANDIDATE (plausible, unsettled) or FALSE POSITIVE (eclipsing stars, a neighbour's light, noise).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asks how far the physics of the signal alone can predict that verdict, and which planets sit in their star's habitable zone.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236208" y="1252728"/>
            <a:ext cx="5358384" cy="4526280"/>
          </a:xfrm>
          <a:prstGeom prst="roundRect">
            <a:avLst>
              <a:gd name="adj" fmla="val 2424"/>
            </a:avLst>
          </a:prstGeom>
          <a:solidFill>
            <a:srgbClr val="FCFCFB"/>
          </a:solidFill>
          <a:ln w="12700">
            <a:solidFill>
              <a:srgbClr val="FCFCFB"/>
            </a:solidFill>
            <a:prstDash val="solid"/>
          </a:ln>
        </p:spPr>
      </p:sp>
      <p:pic>
        <p:nvPicPr>
          <p:cNvPr id="7" name="Image 0" descr="/tmp/KeplerExoplanet/reports/figures/eda/field_of_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1325880"/>
            <a:ext cx="5212080" cy="4069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09360" y="54132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9,564 KOIs on the sky, coloured by verdict (notebook 01)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big questions — then and now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 exoplanets · 2026 refresh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3514344" cy="4663440"/>
          </a:xfrm>
          <a:prstGeom prst="roundRect">
            <a:avLst>
              <a:gd name="adj" fmla="val 3122"/>
            </a:avLst>
          </a:prstGeom>
          <a:solidFill>
            <a:srgbClr val="23211A"/>
          </a:solidFill>
          <a:ln w="12700">
            <a:solidFill>
              <a:srgbClr val="2321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rgbClr val="3FA33F"/>
          </a:solidFill>
          <a:ln w="12700">
            <a:solidFill>
              <a:srgbClr val="3FA33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08760" y="1508760"/>
            <a:ext cx="2325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KOI an exoplanet?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2423160"/>
            <a:ext cx="296570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2020: 'GBT and Random Forest reach 90% f1' — with the vetting flags as features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the flags are the vetting; physics alone reaches macro f1 0.75. Honest, and still useful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37304" y="1325880"/>
            <a:ext cx="3514344" cy="4663440"/>
          </a:xfrm>
          <a:prstGeom prst="roundRect">
            <a:avLst>
              <a:gd name="adj" fmla="val 3122"/>
            </a:avLst>
          </a:prstGeom>
          <a:solidFill>
            <a:srgbClr val="23211A"/>
          </a:solidFill>
          <a:ln w="12700">
            <a:solidFill>
              <a:srgbClr val="23211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1624" y="1554480"/>
            <a:ext cx="548640" cy="54864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1162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97424" y="1508760"/>
            <a:ext cx="2325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in the habitable zone?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611624" y="2423160"/>
            <a:ext cx="296570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2020: 12 confirmed planets, chosen by orbital period and stellar properties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16 small confirmed planets, chosen by the starlight they receive (Kopparapu et al. 2014). The two lists share none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125968" y="1325880"/>
            <a:ext cx="3514344" cy="4663440"/>
          </a:xfrm>
          <a:prstGeom prst="roundRect">
            <a:avLst>
              <a:gd name="adj" fmla="val 3122"/>
            </a:avLst>
          </a:prstGeom>
          <a:solidFill>
            <a:srgbClr val="23211A"/>
          </a:solidFill>
          <a:ln w="12700">
            <a:solidFill>
              <a:srgbClr val="2321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00288" y="1554480"/>
            <a:ext cx="548640" cy="548640"/>
          </a:xfrm>
          <a:prstGeom prst="ellipse">
            <a:avLst/>
          </a:prstGeom>
          <a:solidFill>
            <a:srgbClr val="B8489A"/>
          </a:solidFill>
          <a:ln w="12700">
            <a:solidFill>
              <a:srgbClr val="B8489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0028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086088" y="1508760"/>
            <a:ext cx="2325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future observers use our models?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400288" y="2423160"/>
            <a:ext cx="296570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2020: a Flask app on Heroku (offline since 2022)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trained on 2020 labels, the model predicted later confirmations with AUC 0.937 — and the app runs in any browser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— a 2017-era snapshot and today's table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 exoplanets · 2026 refresh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9,564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20391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KOIs in both tables — the same objects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6517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925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48640" y="33649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changed since the snapshot (9.7%)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3977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3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48640" y="46908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columns that changed (depth: rounding only)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0" y="1371600"/>
            <a:ext cx="3108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snapshot: the Kaggle copy of the archive table, 50 columns.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pull: the archive's TAP service, all 153 columns, provenance JSON with the query, time and hash.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 candidates were confirmed, 148 dismissed; 320 'false positives' became candidates again; 13 former false positives are confirmed planets today.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retraction: Kepler-503 b, CONFIRMED to FALSE POSITIVE.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16368" y="1252728"/>
            <a:ext cx="4123944" cy="4892040"/>
          </a:xfrm>
          <a:prstGeom prst="roundRect">
            <a:avLst>
              <a:gd name="adj" fmla="val 2661"/>
            </a:avLst>
          </a:prstGeom>
          <a:solidFill>
            <a:srgbClr val="FCFCFB"/>
          </a:solidFill>
          <a:ln w="12700">
            <a:solidFill>
              <a:srgbClr val="FCFCFB"/>
            </a:solidFill>
            <a:prstDash val="solid"/>
          </a:ln>
        </p:spPr>
      </p:sp>
      <p:pic>
        <p:nvPicPr>
          <p:cNvPr id="13" name="Image 0" descr="/tmp/KeplerExoplanet/reports/figures/live/disposition_transi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1325880"/>
            <a:ext cx="3977640" cy="44348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57790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in 2020 (rows) versus today (columns)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tale of two Ys, revisited — the flags are the answer key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 exoplanets · 2026 refresh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48463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2020 models used the four koi_fpflag_* vetting flags as features. Any flag set means the pipeline already called it a false positive.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2020 and today the archive re-decided 925 KOIs — and rewrote the flags with the verdicts (320 'false positives' became candidates with their flags cleared).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flag-fed model learns the vetting logic, not the planets: macro f1 0.86–0.87 with flags versus 0.72 on physics alone, same rows, same models.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today's labels the gap is wider still: 0.90 with flags, 0.75 without.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refresh reports both variants, always, and builds the app on physics only.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870448" y="1298448"/>
            <a:ext cx="5769864" cy="3383280"/>
          </a:xfrm>
          <a:prstGeom prst="roundRect">
            <a:avLst>
              <a:gd name="adj" fmla="val 3243"/>
            </a:avLst>
          </a:prstGeom>
          <a:solidFill>
            <a:srgbClr val="FCFCFB"/>
          </a:solidFill>
          <a:ln w="12700">
            <a:solidFill>
              <a:srgbClr val="FCFCFB"/>
            </a:solidFill>
            <a:prstDash val="solid"/>
          </a:ln>
        </p:spPr>
      </p:sp>
      <p:pic>
        <p:nvPicPr>
          <p:cNvPr id="7" name="Image 0" descr="/tmp/KeplerExoplanet/reports/figures/models/macro_f1_by_feature_s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371600"/>
            <a:ext cx="5623560" cy="2926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0" y="4315968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rows, same models, three feature sets (notebook 03, 5-fold CV)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943600" y="4709160"/>
            <a:ext cx="5623560" cy="1097280"/>
          </a:xfrm>
          <a:prstGeom prst="roundRect">
            <a:avLst>
              <a:gd name="adj" fmla="val 10000"/>
            </a:avLst>
          </a:prstGeom>
          <a:solidFill>
            <a:srgbClr val="23211A"/>
          </a:solidFill>
          <a:ln w="12700">
            <a:solidFill>
              <a:srgbClr val="23211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172200" y="484632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the refresh: </a:t>
            </a:r>
            <a:pPr indent="0" marL="0">
              <a:buNone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quote a single f1 without saying which variant — with flags (reproduces the vetting) or physics only (has to earn it).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and EDA — the gaps are information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 exoplanets · 2026 refresh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2423160" cy="4572000"/>
          </a:xfrm>
          <a:prstGeom prst="roundRect">
            <a:avLst>
              <a:gd name="adj" fmla="val 4528"/>
            </a:avLst>
          </a:prstGeom>
          <a:solidFill>
            <a:srgbClr val="23211A"/>
          </a:solidFill>
          <a:ln w="12700">
            <a:solidFill>
              <a:srgbClr val="2321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46120" y="1325880"/>
            <a:ext cx="2423160" cy="4572000"/>
          </a:xfrm>
          <a:prstGeom prst="roundRect">
            <a:avLst>
              <a:gd name="adj" fmla="val 4528"/>
            </a:avLst>
          </a:prstGeom>
          <a:solidFill>
            <a:srgbClr val="2C2921"/>
          </a:solidFill>
          <a:ln w="12700">
            <a:solidFill>
              <a:srgbClr val="2C292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463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74720" y="1463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1920240"/>
            <a:ext cx="1965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the ± error columns, then the 363 rows with any remaining null.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everything and trained on a 75/25 split; scores quoted from one split.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tried (mean, median, mode) and rejected — reasonable.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474720" y="1920240"/>
            <a:ext cx="1965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9,564 rows kept: the gaps are not random, they track the verdict (most sit in false positives).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'Is this value missing' indicators + NaN-native boosting.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from 5-fold cross-validation with error bars; nested CV for tuning.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61888" y="1298448"/>
            <a:ext cx="5678424" cy="2651760"/>
          </a:xfrm>
          <a:prstGeom prst="roundRect">
            <a:avLst>
              <a:gd name="adj" fmla="val 4138"/>
            </a:avLst>
          </a:prstGeom>
          <a:solidFill>
            <a:srgbClr val="FCFCFB"/>
          </a:solidFill>
          <a:ln w="12700">
            <a:solidFill>
              <a:srgbClr val="FCFCFB"/>
            </a:solidFill>
            <a:prstDash val="solid"/>
          </a:ln>
        </p:spPr>
      </p:sp>
      <p:pic>
        <p:nvPicPr>
          <p:cNvPr id="12" name="Image 0" descr="/tmp/KeplerExoplanet/reports/figures/eda/nulls_by_colum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71600"/>
            <a:ext cx="5532120" cy="21945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35040" y="358444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by column (notebook 01)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961888" y="4224528"/>
            <a:ext cx="3163824" cy="1783080"/>
          </a:xfrm>
          <a:prstGeom prst="roundRect">
            <a:avLst>
              <a:gd name="adj" fmla="val 6154"/>
            </a:avLst>
          </a:prstGeom>
          <a:solidFill>
            <a:srgbClr val="FCFCFB"/>
          </a:solidFill>
          <a:ln w="12700">
            <a:solidFill>
              <a:srgbClr val="FCFCFB"/>
            </a:solidFill>
            <a:prstDash val="solid"/>
          </a:ln>
        </p:spPr>
      </p:sp>
      <p:pic>
        <p:nvPicPr>
          <p:cNvPr id="15" name="Image 1" descr="/tmp/KeplerExoplanet/reports/figures/eda/class_balan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35040" y="4297680"/>
            <a:ext cx="3017520" cy="1325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35040" y="5641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balance: the three verdicts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326880" y="4224528"/>
            <a:ext cx="2240280" cy="1783080"/>
          </a:xfrm>
          <a:prstGeom prst="roundRect">
            <a:avLst>
              <a:gd name="adj" fmla="val 6154"/>
            </a:avLst>
          </a:prstGeom>
          <a:solidFill>
            <a:srgbClr val="23211A"/>
          </a:solidFill>
          <a:ln w="12700">
            <a:solidFill>
              <a:srgbClr val="23211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509760" y="431596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3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+0.007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9509760" y="5029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from keeping the incomplete rows — none, but the catalogue is whole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— a null result, recorded as 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 exoplanets · 2026 refresh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75488" y="1252728"/>
            <a:ext cx="5632704" cy="4480560"/>
          </a:xfrm>
          <a:prstGeom prst="roundRect">
            <a:avLst>
              <a:gd name="adj" fmla="val 2449"/>
            </a:avLst>
          </a:prstGeom>
          <a:solidFill>
            <a:srgbClr val="FCFCFB"/>
          </a:solidFill>
          <a:ln w="12700">
            <a:solidFill>
              <a:srgbClr val="FCFCFB"/>
            </a:solidFill>
            <a:prstDash val="solid"/>
          </a:ln>
        </p:spPr>
      </p:sp>
      <p:pic>
        <p:nvPicPr>
          <p:cNvPr id="6" name="Image 0" descr="/tmp/KeplerExoplanet/reports/figures/clustering/pca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5486400" cy="4023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5367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k-means on the physics, projected on two principal components (notebook 02)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6309360" y="1325880"/>
            <a:ext cx="2491740" cy="2743200"/>
          </a:xfrm>
          <a:prstGeom prst="roundRect">
            <a:avLst>
              <a:gd name="adj" fmla="val 4404"/>
            </a:avLst>
          </a:prstGeom>
          <a:solidFill>
            <a:srgbClr val="23211A"/>
          </a:solidFill>
          <a:ln w="12700">
            <a:solidFill>
              <a:srgbClr val="23211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075420" y="1325880"/>
            <a:ext cx="2491740" cy="2743200"/>
          </a:xfrm>
          <a:prstGeom prst="roundRect">
            <a:avLst>
              <a:gd name="adj" fmla="val 4404"/>
            </a:avLst>
          </a:prstGeom>
          <a:solidFill>
            <a:srgbClr val="2C2921"/>
          </a:solidFill>
          <a:ln w="12700">
            <a:solidFill>
              <a:srgbClr val="2C292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37960" y="1463040"/>
            <a:ext cx="2034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9304020" y="1463040"/>
            <a:ext cx="2034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37960" y="1920240"/>
            <a:ext cx="20345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on confirmed planets only, unscaled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at 4 (3-D) and 6 (PCA); 'most of the data is consistent'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304020" y="1920240"/>
            <a:ext cx="20345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classes, log1p on the heavy tails, standardised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with the verdicts: ARI ≤ 0.05, NMI ≈ 0 for every k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309360" y="434340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23211A"/>
          </a:solidFill>
          <a:ln w="12700">
            <a:solidFill>
              <a:srgbClr val="23211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37960" y="44805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means. </a:t>
            </a:r>
            <a:pPr indent="0" marL="0">
              <a:buNone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structure in these twelve measurements does not line up with what the archive decided. That is a finding, not a failure — it is why the supervised models earn their keep.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models, re-labelled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 exoplanets · 2026 refresh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  <a:gridCol w="2651760"/>
                <a:gridCol w="31363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0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0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 deck said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0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f1, with flags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0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f1, physics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1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0.768 ± 0.014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0.527 ± 0.006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1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(2020 settings)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0.866 ± 0.009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0.715 ± 0.015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1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0.867 ± 0.005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0.715 ± 0.003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1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neural net (2020, Keras)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 (one split)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run yet — Phase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1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boosting, all rows, nested CV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0.862 ± 0.006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A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0.722 ± 0.006 (snapshot labels)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A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0.747 ± 0.012 (today's labels)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4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11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4343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2020 deck's '83 / 90 / 90 / 84% f1' were accuracy and weighted f1 on one 75/25 split; macro f1 is the balanced number. Error bars: 5-fold cross-validation.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548640" y="4754880"/>
            <a:ext cx="5486400" cy="1143000"/>
          </a:xfrm>
          <a:prstGeom prst="roundRect">
            <a:avLst>
              <a:gd name="adj" fmla="val 9600"/>
            </a:avLst>
          </a:prstGeom>
          <a:solidFill>
            <a:srgbClr val="2C2921"/>
          </a:solidFill>
          <a:ln w="12700">
            <a:solidFill>
              <a:srgbClr val="2C292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4873752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'macro'? </a:t>
            </a:r>
            <a:pPr indent="0" marL="0">
              <a:buNone/>
            </a:pPr>
            <a:r>
              <a:rPr lang="en-US" sz="12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averages the three verdicts' f1 equally, so the rare class counts as much as the common one. Accuracy and weighted f1 flatter a model that is good at the big class.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309360" y="4754880"/>
            <a:ext cx="5257800" cy="1143000"/>
          </a:xfrm>
          <a:prstGeom prst="roundRect">
            <a:avLst>
              <a:gd name="adj" fmla="val 9600"/>
            </a:avLst>
          </a:prstGeom>
          <a:solidFill>
            <a:srgbClr val="2C2921"/>
          </a:solidFill>
          <a:ln w="12700">
            <a:solidFill>
              <a:srgbClr val="2C292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37960" y="48737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physics-only ceiling </a:t>
            </a:r>
            <a:pPr indent="0" marL="0">
              <a:buNone/>
            </a:pPr>
            <a:r>
              <a:rPr lang="en-US" sz="12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at 0.72–0.75 in every construction we tried: different models, all rows, tuning on inner folds, calibration. Confirmation is a follow-up process; the physics cannot see it.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you can take literally, and a rule you can read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 exoplanets · 2026 refresh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75488" y="1252728"/>
            <a:ext cx="6912864" cy="2743200"/>
          </a:xfrm>
          <a:prstGeom prst="roundRect">
            <a:avLst>
              <a:gd name="adj" fmla="val 4000"/>
            </a:avLst>
          </a:prstGeom>
          <a:solidFill>
            <a:srgbClr val="FCFCFB"/>
          </a:solidFill>
          <a:ln w="12700">
            <a:solidFill>
              <a:srgbClr val="FCFCFB"/>
            </a:solidFill>
            <a:prstDash val="solid"/>
          </a:ln>
        </p:spPr>
      </p:sp>
      <p:pic>
        <p:nvPicPr>
          <p:cNvPr id="6" name="Image 0" descr="/tmp/KeplerExoplanet/reports/figures/models/reliability_physics_onl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6766560" cy="228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363016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of the physics-only model, before and after calibration (notebook 07)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680960" y="1325880"/>
            <a:ext cx="3886200" cy="2377440"/>
          </a:xfrm>
          <a:prstGeom prst="roundRect">
            <a:avLst>
              <a:gd name="adj" fmla="val 4615"/>
            </a:avLst>
          </a:prstGeom>
          <a:solidFill>
            <a:srgbClr val="23211A"/>
          </a:solidFill>
          <a:ln w="12700">
            <a:solidFill>
              <a:srgbClr val="23211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909560" y="14630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rule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P(planet-like) = P(CANDIDATE) + P(CONFIRMED)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0.5 → FALSE POSITIVE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→ the larger of CONFIRMED / CANDIDATE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is a slider in the app; no hidden argmax.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40690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 / 0.55 / 0.84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548640" y="47823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for CONFIRMED / CANDIDATE / FALSE POSITIVE (out-of-fold, today's labels)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66160" y="4069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3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0.921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3566160" y="47823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AUC, planet-like vs false positive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309360" y="40690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0.534 → 0.512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6309360" y="47823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loss, before → after calibration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326880" y="4069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 / 0.82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9326880" y="47823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 for 'planet-like' at 0.5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48640" y="55321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separates planets from false positives well; it separates confirmed from candidate only moderately — confirmation is a follow-up-and-statistics process, not a measurement.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physics-only model actually looks at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 exoplanets · 2026 refresh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75488" y="1252728"/>
            <a:ext cx="6181344" cy="4114800"/>
          </a:xfrm>
          <a:prstGeom prst="roundRect">
            <a:avLst>
              <a:gd name="adj" fmla="val 2667"/>
            </a:avLst>
          </a:prstGeom>
          <a:solidFill>
            <a:srgbClr val="FCFCFB"/>
          </a:solidFill>
          <a:ln w="12700">
            <a:solidFill>
              <a:srgbClr val="FCFCFB"/>
            </a:solidFill>
            <a:prstDash val="solid"/>
          </a:ln>
        </p:spPr>
      </p:sp>
      <p:pic>
        <p:nvPicPr>
          <p:cNvPr id="6" name="Image 0" descr="/tmp/KeplerExoplanet/reports/figures/models/permutation_importance_physics_onl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6035040" cy="365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50017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importance, physics-only model (notebook 07)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949440" y="1371600"/>
            <a:ext cx="4617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signal-to-noise leads by a wide margin: a clean, deep, repeated dip is the strongest single clue.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period and planet radius come next: very large 'planets' and very short periods are mostly eclipsing stars.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duration and impact parameter carry shape information: grazing crossings and V-shaped dips point to stars, not planets.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 temperature, gravity and radius matter less on their own — the planet radius already folds the star's size in.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columns, all measurable from the light curve and the star: nothing that encodes a human's verdict.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out-of-time test — question III, answered honestly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 exoplanets · 2026 refresh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75488" y="1252728"/>
            <a:ext cx="6547104" cy="4114800"/>
          </a:xfrm>
          <a:prstGeom prst="roundRect">
            <a:avLst>
              <a:gd name="adj" fmla="val 2667"/>
            </a:avLst>
          </a:prstGeom>
          <a:solidFill>
            <a:srgbClr val="FCFCFB"/>
          </a:solidFill>
          <a:ln w="12700">
            <a:solidFill>
              <a:srgbClr val="FCFCFB"/>
            </a:solidFill>
            <a:prstDash val="solid"/>
          </a:ln>
        </p:spPr>
      </p:sp>
      <p:pic>
        <p:nvPicPr>
          <p:cNvPr id="6" name="Image 0" descr="/tmp/KeplerExoplanet/reports/figures/live/out_of_time_candidat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6400800" cy="365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5001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2020-trained model thought of the 2020 candidates, split by what happened next (notebook 08)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7315200" y="13258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3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0.937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7315200" y="20391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later-confirmed vs later-dismissed, on verdicts the model never saw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315200" y="2743200"/>
            <a:ext cx="4251960" cy="3108960"/>
          </a:xfrm>
          <a:prstGeom prst="roundRect">
            <a:avLst>
              <a:gd name="adj" fmla="val 3529"/>
            </a:avLst>
          </a:prstGeom>
          <a:solidFill>
            <a:srgbClr val="23211A"/>
          </a:solidFill>
          <a:ln w="12700">
            <a:solidFill>
              <a:srgbClr val="23211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543800" y="288036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2,248 KOIs were CANDIDATEs in 2020. Since then the archive confirmed 443 and dismissed 148.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model, trained on 2020 labels, had rated the later-confirmed ones far more planet-like (median 0.95) than the later-dismissed ones (median 0.26).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 forecast checked against the future — the closest thing to 'can future observers use this?'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vetting flags could not have passed this test: they were rewritten along with the verdicts.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habitable zone, done on insolation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 exoplanets · 2026 refresh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75488" y="1207008"/>
            <a:ext cx="7735824" cy="3749040"/>
          </a:xfrm>
          <a:prstGeom prst="roundRect">
            <a:avLst>
              <a:gd name="adj" fmla="val 2927"/>
            </a:avLst>
          </a:prstGeom>
          <a:solidFill>
            <a:srgbClr val="FCFCFB"/>
          </a:solidFill>
          <a:ln w="12700">
            <a:solidFill>
              <a:srgbClr val="FCFCFB"/>
            </a:solidFill>
            <a:prstDash val="solid"/>
          </a:ln>
        </p:spPr>
      </p:sp>
      <p:pic>
        <p:nvPicPr>
          <p:cNvPr id="6" name="Image 0" descr="/tmp/KeplerExoplanet/reports/figures/habitable_zone/hz_diagram_confirm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7589520" cy="3291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45902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Circled: confirmed planets ≤ 2 R⊕ in the conservative zone (notebook 05; today's table adds Kepler-1652 b)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8503920" y="1280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3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8503920" y="19933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planets ≤ 2 R⊕ in the conservative zone today (9 of them ≤ 1.6 R⊕, plausibly rocky)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503920" y="2788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B84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12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8503920" y="35021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2020 list survive: period and star properties are not the planet's climate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5120640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23211A"/>
          </a:solidFill>
          <a:ln w="12700">
            <a:solidFill>
              <a:srgbClr val="23211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521208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Method. </a:t>
            </a:r>
            <a:pPr indent="0" marL="0">
              <a:buNone/>
            </a:pPr>
            <a:r>
              <a:rPr lang="en-US" sz="12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Kopparapu et al. 2014 give the insolation at which a rocky planet loses its water (runaway greenhouse) or freezes (maximum greenhouse) as a function of the star's temperature; Rogers 2015 finds most planets above 1.6 R⊕ are not rocky. Caveat: the table's stellar parameters are Kepler DR25 — Kepler-1649 c sits outside and its exo-Venus sibling 1649 b inside on those numbers. A screen, not a verdict.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— one file, three ways to run 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 exoplanets · 2026 refresh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75488" y="1207008"/>
            <a:ext cx="4078224" cy="3401568"/>
          </a:xfrm>
          <a:prstGeom prst="roundRect">
            <a:avLst>
              <a:gd name="adj" fmla="val 3226"/>
            </a:avLst>
          </a:prstGeom>
          <a:solidFill>
            <a:srgbClr val="FCFCFB"/>
          </a:solidFill>
          <a:ln w="12700">
            <a:solidFill>
              <a:srgbClr val="FCFCFB"/>
            </a:solidFill>
            <a:prstDash val="solid"/>
          </a:ln>
        </p:spPr>
      </p:sp>
      <p:pic>
        <p:nvPicPr>
          <p:cNvPr id="6" name="Image 0" descr="/tmp/KeplerExoplanet/reports/figures/app/catalogue_l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3931920" cy="29443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4242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Catalogue: filter, plot, download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636008" y="1207008"/>
            <a:ext cx="4078224" cy="3401568"/>
          </a:xfrm>
          <a:prstGeom prst="roundRect">
            <a:avLst>
              <a:gd name="adj" fmla="val 3226"/>
            </a:avLst>
          </a:prstGeom>
          <a:solidFill>
            <a:srgbClr val="FCFCFB"/>
          </a:solidFill>
          <a:ln w="12700">
            <a:solidFill>
              <a:srgbClr val="FCFCFB"/>
            </a:solidFill>
            <a:prstDash val="solid"/>
          </a:ln>
        </p:spPr>
      </p:sp>
      <p:pic>
        <p:nvPicPr>
          <p:cNvPr id="9" name="Image 1" descr="/tmp/KeplerExoplanet/reports/figures/app/explorer_dark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1280160"/>
            <a:ext cx="3931920" cy="29443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09160" y="4242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explorer, dark mode: probabilities and what-if sliders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8915400" y="1280160"/>
            <a:ext cx="2697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tabs: Catalogue, KOI explorer, Habitable zone, Model &amp; honesty, About.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locally, on Streamlit Community Cloud, or entirely in your browser (GitHub Pages).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travels as plain numbers and is evaluated with numpy — the same model everywhere.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help on every control; light and dark themes.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548640" y="5074920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23211A"/>
          </a:solidFill>
          <a:ln w="12700">
            <a:solidFill>
              <a:srgbClr val="23211A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77240" y="5184648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Kepler-452 b. </a:t>
            </a:r>
            <a:pPr indent="0" marL="0">
              <a:buNone/>
            </a:pPr>
            <a:r>
              <a:rPr lang="en-US" sz="12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archive says CONFIRMED; the physics-only model says 50/50. Mullally et al. 2018 argued the planet 'can not be confirmed using a purely statistical validation approach'. Sometimes a coin flip is the honest answer.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 exoplanets · 2026 refresh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11091672" cy="804672"/>
          </a:xfrm>
          <a:prstGeom prst="roundRect">
            <a:avLst>
              <a:gd name="adj" fmla="val 13636"/>
            </a:avLst>
          </a:prstGeom>
          <a:solidFill>
            <a:srgbClr val="23211A"/>
          </a:solidFill>
          <a:ln w="12700">
            <a:solidFill>
              <a:srgbClr val="2321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481328"/>
            <a:ext cx="402336" cy="402336"/>
          </a:xfrm>
          <a:prstGeom prst="ellipse">
            <a:avLst/>
          </a:prstGeom>
          <a:solidFill>
            <a:srgbClr val="B8489A"/>
          </a:solidFill>
          <a:ln w="12700">
            <a:solidFill>
              <a:srgbClr val="B848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17320" y="1371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settles arguments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0" y="1371600"/>
            <a:ext cx="6793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vetting flags were rewritten with the verdicts. Any score that uses them is a score for copying.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94560"/>
            <a:ext cx="11091672" cy="804672"/>
          </a:xfrm>
          <a:prstGeom prst="roundRect">
            <a:avLst>
              <a:gd name="adj" fmla="val 13636"/>
            </a:avLst>
          </a:prstGeom>
          <a:solidFill>
            <a:srgbClr val="2C2921"/>
          </a:solidFill>
          <a:ln w="12700">
            <a:solidFill>
              <a:srgbClr val="2C292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395728"/>
            <a:ext cx="402336" cy="402336"/>
          </a:xfrm>
          <a:prstGeom prst="ellipse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 is real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72000" y="2286000"/>
            <a:ext cx="6793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alone tops out near 0.75 macro f1 in every construction. Confirmation is a process the measurements cannot see.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108960"/>
            <a:ext cx="11091672" cy="804672"/>
          </a:xfrm>
          <a:prstGeom prst="roundRect">
            <a:avLst>
              <a:gd name="adj" fmla="val 13636"/>
            </a:avLst>
          </a:prstGeom>
          <a:solidFill>
            <a:srgbClr val="23211A"/>
          </a:solidFill>
          <a:ln w="12700">
            <a:solidFill>
              <a:srgbClr val="2321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3310128"/>
            <a:ext cx="402336" cy="402336"/>
          </a:xfrm>
          <a:prstGeom prst="ellipse">
            <a:avLst/>
          </a:prstGeom>
          <a:solidFill>
            <a:srgbClr val="3FA33F"/>
          </a:solidFill>
          <a:ln w="12700">
            <a:solidFill>
              <a:srgbClr val="3FA33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417320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beat fits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72000" y="3200400"/>
            <a:ext cx="6793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2020, the model predicted the archive's later confirmations with AUC 0.937. That is the number to trust.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4023360"/>
            <a:ext cx="11091672" cy="804672"/>
          </a:xfrm>
          <a:prstGeom prst="roundRect">
            <a:avLst>
              <a:gd name="adj" fmla="val 13636"/>
            </a:avLst>
          </a:prstGeom>
          <a:solidFill>
            <a:srgbClr val="2C2921"/>
          </a:solidFill>
          <a:ln w="12700">
            <a:solidFill>
              <a:srgbClr val="2C292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4224528"/>
            <a:ext cx="402336" cy="402336"/>
          </a:xfrm>
          <a:prstGeom prst="ellipse">
            <a:avLst/>
          </a:prstGeom>
          <a:solidFill>
            <a:srgbClr val="CC8016"/>
          </a:solidFill>
          <a:ln w="12700">
            <a:solidFill>
              <a:srgbClr val="CC801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417320" y="4114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planet, not the star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572000" y="4114800"/>
            <a:ext cx="6793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Habitable-zone screens belong on insolation with temperature-dependent limits. The 2020 list of 12 had zero survivors.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4937760"/>
            <a:ext cx="11091672" cy="804672"/>
          </a:xfrm>
          <a:prstGeom prst="roundRect">
            <a:avLst>
              <a:gd name="adj" fmla="val 13636"/>
            </a:avLst>
          </a:prstGeom>
          <a:solidFill>
            <a:srgbClr val="23211A"/>
          </a:solidFill>
          <a:ln w="12700">
            <a:solidFill>
              <a:srgbClr val="23211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77240" y="5138928"/>
            <a:ext cx="402336" cy="402336"/>
          </a:xfrm>
          <a:prstGeom prst="ellipse">
            <a:avLst/>
          </a:prstGeom>
          <a:solidFill>
            <a:srgbClr val="F2F0E8"/>
          </a:solidFill>
          <a:ln w="12700">
            <a:solidFill>
              <a:srgbClr val="F2F0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7240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417320" y="5029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is the deliverable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572000" y="5029200"/>
            <a:ext cx="6793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environment, tracked data with hashes, 41 tests, every number regenerable — and an app anyone can open.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credits, references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 exoplanets · 2026 refresh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657600" cy="4572000"/>
          </a:xfrm>
          <a:prstGeom prst="roundRect">
            <a:avLst>
              <a:gd name="adj" fmla="val 3000"/>
            </a:avLst>
          </a:prstGeom>
          <a:solidFill>
            <a:srgbClr val="23211A"/>
          </a:solidFill>
          <a:ln w="12700">
            <a:solidFill>
              <a:srgbClr val="23211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417320"/>
            <a:ext cx="32004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· uv (locked environment)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 · scikit-learn 1.9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· matplotlib · Streamlit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stlite (Streamlit in the browser) · GitHub Pages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Exoplanet Archive TAP service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(41 tests) · ruff · JupyterLab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vault inside the repository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 team: Claude (Cowork) authored notebooks, code and notes; Claude Code tested, committed and pushed; Rich set direction and reviewed every batch.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480560" y="1280160"/>
            <a:ext cx="7086600" cy="4572000"/>
          </a:xfrm>
          <a:prstGeom prst="roundRect">
            <a:avLst>
              <a:gd name="adj" fmla="val 2400"/>
            </a:avLst>
          </a:prstGeom>
          <a:solidFill>
            <a:srgbClr val="2C2921"/>
          </a:solidFill>
          <a:ln w="12700">
            <a:solidFill>
              <a:srgbClr val="2C292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09160" y="1417320"/>
            <a:ext cx="66294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Kopparapu, R. K. et al. 2014, ApJL 787, L29 — habitable-zone insolation limits vs stellar temperature (arXiv:1404.5292)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Rogers, L. A. 2015, ApJ 801, 41 — 'the majority of 1.6 Earth-radius planets are too low density to be comprised of Fe and silicates alone' (arXiv:1407.4457)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Mullally, F. et al. 2018, AJ 155, 210 — Kepler-452 b 'should be considered a candidate planet' (arXiv:1803.11307)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Vanderburg, A. et al. 2020, ApJL 893, L27 — Kepler-1649 c, rescued from false-positive status (arXiv:2004.06725)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Angelo, I. et al. 2017, AJ 153, 162 — Kepler-1649 b, an exo-Venus (arXiv:1704.03136)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Exoplanet Archive — KOI cumulative table, column definitions and TAP service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team (Columbia Engineering data-analytics bootcamp): Rich Anderson — ML pipeline; Damien Corr, Priscilla Lin, Tom Greff. Original repo: tom-jj-G/KeplerExoplanets. 2026 refresh: Rich Anderson with Claude.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B8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educational analysis of public data, not a product of NASA or the Exoplanet Archive. Verdicts are the archive's; probabilities are ours.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Kepler exoplanets — the 2026 refresh</dc:title>
  <dc:subject>PptxGenJS Presentation</dc:subject>
  <dc:creator>Rich Anderson</dc:creator>
  <cp:lastModifiedBy>Rich Anderson</cp:lastModifiedBy>
  <cp:revision>1</cp:revision>
  <dcterms:created xsi:type="dcterms:W3CDTF">2026-08-25T23:03:20Z</dcterms:created>
  <dcterms:modified xsi:type="dcterms:W3CDTF">2026-08-25T23:03:20Z</dcterms:modified>
</cp:coreProperties>
</file>